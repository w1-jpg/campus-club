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各位老师好，我是计算机科学与技术专业2023级王宏民，毕业设计题目是《基于Spring Boot的校园社团成果与孵化系统》，指导教师是张娟副教授。下面从研究背景、研究内容、系统设计、创新点和总结五个方面汇报。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校园社团成果数量在增长，但存在三个痛点：展示渠道有限、孵化机制不完善、资源对接信息不对称。核心矛盾是成果有存量、转化缺通道，因此本课题要构建一体化平台。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题目可以拆成三个关键词：Spring Boot是技术底座，校园社团成果是业务对象，孵化系统是业务目标。意义分理论和实践两层：理论上补充社团信息化研究，实践上解决展示、评审和资源对接问题。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系统围绕五类角色设计八个模块。技术上采用前后端分离：前端Vue3加Element Plus，后端Spring Boot提供REST接口，MySQL做数据存储，MyBatis做持久化，Spring Security加JWT做认证授权；文件访问和少量历史兼容接口由Node.js辅助服务承担。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需求分析确定了五类角色：学生、教师、专家、企业、管理员；功能域包括可视化、交互、成果管理、项目孵化、用户管理、通知和资源对接七个部分。设计上坚持角色分权、流程可追踪、数据可统计、接口可扩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系统采用前后端分离的分层架构：客户端、接入层、Spring Boot应用层和MySQL数据层。数据模型按用户域、成果域、孵化域、资源域和支撑域划分，评审状态、附件、申请和资金流水都有独立表支撑。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核心流程是成果上传、教师两阶段评分、专家多维评审、资源申请、企业审批和孵化跟踪。关键控制有三点：身份从JWT取，评审状态驱动流程，资源申请前校验双审资格。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创新点总结为四条：第一是一体化业务闭环；第二是两阶段评分加多维度评审；第三是双审资格的资源对接；第四是多角色数据可视化。整体定位是业务整合和工程实现创新，不是算法创新。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测试围绕五个核心模块：成果上传、资源申请、用户管理、成果评价、成果管理。功能测试全部通过，非功能测试覆盖性能、安全、兼容和可靠性，系统达到需求和设计目标。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最后总结：完成了五类角色、八个模块的一体化平台，打通了成果到资源的闭环；不足是并发、缓存和智能推荐；后续会引入Redis、对象存储和推荐算法。感谢张娟老师的指导，感谢各位老师。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005840"/>
            <a:ext cx="4206240" cy="4206240"/>
          </a:xfrm>
          <a:prstGeom prst="ellipse">
            <a:avLst/>
          </a:prstGeom>
          <a:noFill/>
          <a:ln w="15240">
            <a:solidFill>
              <a:srgbClr val="2E5BC9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1097280"/>
            <a:ext cx="2926080" cy="2926080"/>
          </a:xfrm>
          <a:prstGeom prst="ellipse">
            <a:avLst/>
          </a:prstGeom>
          <a:noFill/>
          <a:ln w="15240">
            <a:solidFill>
              <a:srgbClr val="2E5BC9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3474720" cy="3474720"/>
          </a:xfrm>
          <a:prstGeom prst="ellipse">
            <a:avLst/>
          </a:prstGeom>
          <a:noFill/>
          <a:ln w="15240">
            <a:solidFill>
              <a:srgbClr val="14B8C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58368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9DB8F0"/>
                </a:solidFill>
                <a:latin typeface="Microsoft YaHei"/>
              </a:rPr>
              <a:t>哈尔滨信息工程学院 · 软件学院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2412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7F9AD6"/>
                </a:solidFill>
                <a:latin typeface="Microsoft YaHei"/>
              </a:rPr>
              <a:t>毕业设计答辩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676656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3800" b="1">
                <a:solidFill>
                  <a:srgbClr val="FFFFFF"/>
                </a:solidFill>
                <a:latin typeface="Microsoft YaHei"/>
              </a:rPr>
              <a:t>基于 Spring Boot 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87168"/>
            <a:ext cx="7498079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3800" b="1">
                <a:solidFill>
                  <a:srgbClr val="FFFFFF"/>
                </a:solidFill>
                <a:latin typeface="Microsoft YaHei"/>
              </a:rPr>
              <a:t>校园社团成果与孵化系统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310128"/>
            <a:ext cx="1417320" cy="64008"/>
          </a:xfrm>
          <a:prstGeom prst="rect">
            <a:avLst/>
          </a:prstGeom>
          <a:solidFill>
            <a:srgbClr val="14B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493008"/>
            <a:ext cx="7498079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C9D8F5"/>
                </a:solidFill>
                <a:latin typeface="Microsoft YaHei"/>
              </a:rPr>
              <a:t>成果展示  ·  评审孵化  ·  资源对接  ·  数据可视化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315968"/>
            <a:ext cx="6309360" cy="1417320"/>
          </a:xfrm>
          <a:prstGeom prst="roundRect">
            <a:avLst/>
          </a:prstGeom>
          <a:solidFill>
            <a:srgbClr val="142A55"/>
          </a:solidFill>
          <a:ln w="12700">
            <a:solidFill>
              <a:srgbClr val="2B4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4507992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86A2D6"/>
                </a:solidFill>
                <a:latin typeface="Microsoft YaHei"/>
              </a:rPr>
              <a:t>答辩人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82496" y="449884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王宏民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50208" y="4507992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86A2D6"/>
                </a:solidFill>
                <a:latin typeface="Microsoft YaHei"/>
              </a:rPr>
              <a:t>学  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449884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2023020621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5010912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86A2D6"/>
                </a:solidFill>
                <a:latin typeface="Microsoft YaHei"/>
              </a:rPr>
              <a:t>专  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82496" y="500176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计算机科学与技术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208" y="5010912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86A2D6"/>
                </a:solidFill>
                <a:latin typeface="Microsoft YaHei"/>
              </a:rPr>
              <a:t>指导教师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500176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张娟  副教授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45720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1200" b="0">
                <a:solidFill>
                  <a:srgbClr val="B9CCEE"/>
                </a:solidFill>
                <a:latin typeface="Microsoft YaHei"/>
              </a:rPr>
              <a:t>2027 年 5 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619963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5E78B2"/>
                </a:solidFill>
                <a:latin typeface="Microsoft YaHei"/>
              </a:rPr>
              <a:t>HARBIN INSTITUTE OF INFORMATION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38328"/>
            <a:ext cx="56692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1">
                <a:solidFill>
                  <a:srgbClr val="1F4FD8"/>
                </a:solidFill>
                <a:latin typeface="Microsoft YaHei"/>
              </a:rPr>
              <a:t>01 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8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1B2437"/>
                </a:solidFill>
                <a:latin typeface="Microsoft YaHei"/>
              </a:rPr>
              <a:t>研究背景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61288"/>
            <a:ext cx="566928" cy="54864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271016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6B7891"/>
                </a:solidFill>
                <a:latin typeface="Microsoft YaHei"/>
              </a:rPr>
              <a:t>社团成果数量增长，但展示、评审与转化链路仍然割裂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1323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6B7891"/>
                </a:solidFill>
                <a:latin typeface="Microsoft YaHei"/>
              </a:rPr>
              <a:t>基于 Spring Boot 的校园社团成果与孵化系统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6B7891"/>
                </a:solidFill>
                <a:latin typeface="Microsoft YaHei"/>
              </a:rPr>
              <a:t>02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27632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1B2437"/>
                </a:solidFill>
                <a:latin typeface="Microsoft YaHei"/>
              </a:rPr>
              <a:t>三个现实痛点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011680"/>
            <a:ext cx="4800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011680"/>
            <a:ext cx="73152" cy="1097280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157984"/>
            <a:ext cx="4572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1F4FD8"/>
                </a:solidFill>
                <a:latin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2728" y="2157984"/>
            <a:ext cx="393192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1B2437"/>
                </a:solidFill>
                <a:latin typeface="Microsoft YaHei"/>
              </a:rPr>
              <a:t>展示渠道有限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578608"/>
            <a:ext cx="4325112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7891"/>
                </a:solidFill>
                <a:latin typeface="Microsoft YaHei"/>
              </a:rPr>
              <a:t>成果停留在社团内部，缺少统一展示窗口，优秀项目难以被看见。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255264"/>
            <a:ext cx="4800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3255264"/>
            <a:ext cx="73152" cy="1097280"/>
          </a:xfrm>
          <a:prstGeom prst="rect">
            <a:avLst/>
          </a:prstGeom>
          <a:solidFill>
            <a:srgbClr val="14B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3401568"/>
            <a:ext cx="4572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14B8C8"/>
                </a:solidFill>
                <a:latin typeface="Microsoft YaHe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2728" y="3401568"/>
            <a:ext cx="393192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1B2437"/>
                </a:solidFill>
                <a:latin typeface="Microsoft YaHei"/>
              </a:rPr>
              <a:t>孵化机制不完善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822192"/>
            <a:ext cx="4325112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7891"/>
                </a:solidFill>
                <a:latin typeface="Microsoft YaHei"/>
              </a:rPr>
              <a:t>评审、评分、孵化各自为战，缺少从成果到项目的持续培育机制。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98848"/>
            <a:ext cx="4800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4498848"/>
            <a:ext cx="73152" cy="10972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4645152"/>
            <a:ext cx="4572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F59E0B"/>
                </a:solidFill>
                <a:latin typeface="Microsoft YaHe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52728" y="4645152"/>
            <a:ext cx="393192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1B2437"/>
                </a:solidFill>
                <a:latin typeface="Microsoft YaHei"/>
              </a:rPr>
              <a:t>资源对接不畅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065776"/>
            <a:ext cx="4325112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7891"/>
                </a:solidFill>
                <a:latin typeface="Microsoft YaHei"/>
              </a:rPr>
              <a:t>成果与企业在信息上不对称，学生找不到资源，企业找不到项目。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15000" y="1627632"/>
            <a:ext cx="5897880" cy="4160520"/>
          </a:xfrm>
          <a:prstGeom prst="roundRect">
            <a:avLst/>
          </a:prstGeom>
          <a:solidFill>
            <a:srgbClr val="0B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53328" y="184708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8FB4F2"/>
                </a:solidFill>
                <a:latin typeface="Microsoft YaHei"/>
              </a:rPr>
              <a:t>核心矛盾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53328" y="2194560"/>
            <a:ext cx="5120640" cy="1051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</a:rPr>
              <a:t>成果有“存量”，
转化缺“通道”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53328" y="331012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C9D8F5"/>
                </a:solidFill>
                <a:latin typeface="Microsoft YaHei"/>
              </a:rPr>
              <a:t>信息孤岛  ·  评审分散  ·  资源错配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53328" y="3767328"/>
            <a:ext cx="5074920" cy="18288"/>
          </a:xfrm>
          <a:prstGeom prst="rect">
            <a:avLst/>
          </a:prstGeom>
          <a:solidFill>
            <a:srgbClr val="3A5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53328" y="395020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8FB4F2"/>
                </a:solidFill>
                <a:latin typeface="Microsoft YaHei"/>
              </a:rPr>
              <a:t>研究目标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53328" y="4224528"/>
            <a:ext cx="5074920" cy="114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FFFFFF"/>
                </a:solidFill>
                <a:latin typeface="Microsoft YaHei"/>
              </a:rPr>
              <a:t>构建“成果展示—评审孵化—资源对接”
一体化平台，让成果可展示、可评审、可转化。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59893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6B7891"/>
                </a:solidFill>
                <a:latin typeface="Microsoft YaHei"/>
              </a:rPr>
              <a:t>数据来源：论文第 1 章研究背景与第 2 章需求分析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38328"/>
            <a:ext cx="56692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1">
                <a:solidFill>
                  <a:srgbClr val="1F4FD8"/>
                </a:solidFill>
                <a:latin typeface="Microsoft YaHei"/>
              </a:rPr>
              <a:t>02 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8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1B2437"/>
                </a:solidFill>
                <a:latin typeface="Microsoft YaHei"/>
              </a:rPr>
              <a:t>论文题目及意义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61288"/>
            <a:ext cx="566928" cy="54864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271016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6B7891"/>
                </a:solidFill>
                <a:latin typeface="Microsoft YaHei"/>
              </a:rPr>
              <a:t>题目聚焦“成果展示 + 评审孵化 + 资源对接”的一体化能力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1323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6B7891"/>
                </a:solidFill>
                <a:latin typeface="Microsoft YaHei"/>
              </a:rPr>
              <a:t>基于 Spring Boot 的校园社团成果与孵化系统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6B7891"/>
                </a:solidFill>
                <a:latin typeface="Microsoft YaHei"/>
              </a:rPr>
              <a:t>03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72768"/>
            <a:ext cx="548640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71907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6B7891"/>
                </a:solidFill>
                <a:latin typeface="Microsoft YaHei"/>
              </a:rPr>
              <a:t>基于 Spring Boot 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011680"/>
            <a:ext cx="502920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1B2437"/>
                </a:solidFill>
                <a:latin typeface="Microsoft YaHei"/>
              </a:rPr>
              <a:t>校园社团成果与孵化系统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572768"/>
            <a:ext cx="73152" cy="1078992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816352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1F4FD8"/>
                </a:solidFill>
                <a:latin typeface="Microsoft YaHei"/>
              </a:rPr>
              <a:t>Spring Boot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816352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6B7891"/>
                </a:solidFill>
                <a:latin typeface="Microsoft YaHei"/>
              </a:rPr>
              <a:t>后端技术底座：RESTful API、分层架构、权限控制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3832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1F4FD8"/>
                </a:solidFill>
                <a:latin typeface="Microsoft YaHei"/>
              </a:rPr>
              <a:t>校园社团成果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338328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6B7891"/>
                </a:solidFill>
                <a:latin typeface="Microsoft YaHei"/>
              </a:rPr>
              <a:t>业务对象：成果上传、展示、互动、评审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395020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1F4FD8"/>
                </a:solidFill>
                <a:latin typeface="Microsoft YaHei"/>
              </a:rPr>
              <a:t>孵化系统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3950208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6B7891"/>
                </a:solidFill>
                <a:latin typeface="Microsoft YaHei"/>
              </a:rPr>
              <a:t>业务目标：评审、孵化、资源对接、持续培育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627632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1B2437"/>
                </a:solidFill>
                <a:latin typeface="Microsoft YaHei"/>
              </a:rPr>
              <a:t>研究意义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2011680"/>
            <a:ext cx="525780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2011680"/>
            <a:ext cx="73152" cy="1298448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11112" y="2157984"/>
            <a:ext cx="48006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1B2437"/>
                </a:solidFill>
                <a:latin typeface="Microsoft YaHei"/>
              </a:rPr>
              <a:t>理论意义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11112" y="2578608"/>
            <a:ext cx="4782312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7891"/>
                </a:solidFill>
                <a:latin typeface="Microsoft YaHei"/>
              </a:rPr>
              <a:t>丰富高校社团信息化与成果转化研究，探索“展示—评审—孵化—对接”的数字化路径。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3456432"/>
            <a:ext cx="525780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5080" y="3456432"/>
            <a:ext cx="73152" cy="1298448"/>
          </a:xfrm>
          <a:prstGeom prst="rect">
            <a:avLst/>
          </a:prstGeom>
          <a:solidFill>
            <a:srgbClr val="14B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11112" y="3602736"/>
            <a:ext cx="48006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1B2437"/>
                </a:solidFill>
                <a:latin typeface="Microsoft YaHei"/>
              </a:rPr>
              <a:t>实践意义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11112" y="4023360"/>
            <a:ext cx="4782312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7891"/>
                </a:solidFill>
                <a:latin typeface="Microsoft YaHei"/>
              </a:rPr>
              <a:t>提升成果可见性、评审规范性和资源对接效率，为社团管理提供可落地的平台方案。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5074920"/>
            <a:ext cx="5257800" cy="603504"/>
          </a:xfrm>
          <a:prstGeom prst="roundRect">
            <a:avLst/>
          </a:prstGeom>
          <a:solidFill>
            <a:srgbClr val="EA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5193792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1300" b="1">
                <a:solidFill>
                  <a:srgbClr val="1F4FD8"/>
                </a:solidFill>
                <a:latin typeface="Microsoft YaHei"/>
              </a:rPr>
              <a:t>五大角色：学生 · 教师 · 专家 · 企业 · 管理员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38328"/>
            <a:ext cx="56692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1">
                <a:solidFill>
                  <a:srgbClr val="1F4FD8"/>
                </a:solidFill>
                <a:latin typeface="Microsoft YaHei"/>
              </a:rPr>
              <a:t>03  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8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1B2437"/>
                </a:solidFill>
                <a:latin typeface="Microsoft YaHei"/>
              </a:rPr>
              <a:t>主要研究内容与技术介绍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61288"/>
            <a:ext cx="566928" cy="54864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271016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6B7891"/>
                </a:solidFill>
                <a:latin typeface="Microsoft YaHei"/>
              </a:rPr>
              <a:t>围绕五类角色，构建八个功能模块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1323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6B7891"/>
                </a:solidFill>
                <a:latin typeface="Microsoft YaHei"/>
              </a:rPr>
              <a:t>基于 Spring Boot 的校园社团成果与孵化系统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6B7891"/>
                </a:solidFill>
                <a:latin typeface="Microsoft YaHei"/>
              </a:rPr>
              <a:t>04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27632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1B2437"/>
                </a:solidFill>
                <a:latin typeface="Microsoft YaHei"/>
              </a:rPr>
              <a:t>八个功能模块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011680"/>
            <a:ext cx="128016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2130552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1">
                <a:solidFill>
                  <a:srgbClr val="1F4FD8"/>
                </a:solidFill>
                <a:latin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10312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1B2437"/>
                </a:solidFill>
                <a:latin typeface="Microsoft YaHei"/>
              </a:rPr>
              <a:t>用户认证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84248" y="2011680"/>
            <a:ext cx="128016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93976" y="2130552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1">
                <a:solidFill>
                  <a:srgbClr val="1F4FD8"/>
                </a:solidFill>
                <a:latin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68296" y="210312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1B2437"/>
                </a:solidFill>
                <a:latin typeface="Microsoft YaHei"/>
              </a:rPr>
              <a:t>成果管理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2011680"/>
            <a:ext cx="128016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11296" y="2130552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1">
                <a:solidFill>
                  <a:srgbClr val="1F4FD8"/>
                </a:solidFill>
                <a:latin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85616" y="210312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1B2437"/>
                </a:solidFill>
                <a:latin typeface="Microsoft YaHei"/>
              </a:rPr>
              <a:t>展示互动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18888" y="2011680"/>
            <a:ext cx="128016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28616" y="2130552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1">
                <a:solidFill>
                  <a:srgbClr val="1F4FD8"/>
                </a:solidFill>
                <a:latin typeface="Microsoft YaHe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02936" y="210312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1B2437"/>
                </a:solidFill>
                <a:latin typeface="Microsoft YaHei"/>
              </a:rPr>
              <a:t>评审孵化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2651760"/>
            <a:ext cx="128016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" y="2770632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1">
                <a:solidFill>
                  <a:srgbClr val="1F4FD8"/>
                </a:solidFill>
                <a:latin typeface="Microsoft YaHe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" y="274320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1B2437"/>
                </a:solidFill>
                <a:latin typeface="Microsoft YaHei"/>
              </a:rPr>
              <a:t>资源对接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84248" y="2651760"/>
            <a:ext cx="128016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93976" y="2770632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1">
                <a:solidFill>
                  <a:srgbClr val="1F4FD8"/>
                </a:solidFill>
                <a:latin typeface="Microsoft YaHei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68296" y="274320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1B2437"/>
                </a:solidFill>
                <a:latin typeface="Microsoft YaHei"/>
              </a:rPr>
              <a:t>获奖管理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01568" y="2651760"/>
            <a:ext cx="128016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11296" y="2770632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1">
                <a:solidFill>
                  <a:srgbClr val="1F4FD8"/>
                </a:solidFill>
                <a:latin typeface="Microsoft YaHei"/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85616" y="274320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1B2437"/>
                </a:solidFill>
                <a:latin typeface="Microsoft YaHei"/>
              </a:rPr>
              <a:t>通知系统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18888" y="2651760"/>
            <a:ext cx="128016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28616" y="2770632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1">
                <a:solidFill>
                  <a:srgbClr val="1F4FD8"/>
                </a:solidFill>
                <a:latin typeface="Microsoft YaHei"/>
              </a:rPr>
              <a:t>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02936" y="274320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1B2437"/>
                </a:solidFill>
                <a:latin typeface="Microsoft YaHei"/>
              </a:rPr>
              <a:t>管理后台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3401568"/>
            <a:ext cx="557784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" y="35661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1B2437"/>
                </a:solidFill>
                <a:latin typeface="Microsoft YaHei"/>
              </a:rPr>
              <a:t>技术栈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4672" y="3995928"/>
            <a:ext cx="54864" cy="219456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" y="3950208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6B7891"/>
                </a:solidFill>
                <a:latin typeface="Microsoft YaHei"/>
              </a:rPr>
              <a:t>前端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54480" y="3950208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1B2437"/>
                </a:solidFill>
                <a:latin typeface="Microsoft YaHei"/>
              </a:rPr>
              <a:t>Vue 3 + Element Plus + ECharts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672" y="4407408"/>
            <a:ext cx="54864" cy="219456"/>
          </a:xfrm>
          <a:prstGeom prst="rect">
            <a:avLst/>
          </a:prstGeom>
          <a:solidFill>
            <a:srgbClr val="14B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" y="4361688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6B7891"/>
                </a:solidFill>
                <a:latin typeface="Microsoft YaHei"/>
              </a:rPr>
              <a:t>后端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54480" y="4361688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1B2437"/>
                </a:solidFill>
                <a:latin typeface="Microsoft YaHei"/>
              </a:rPr>
              <a:t>Spring Boot + RESTful API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4672" y="4818888"/>
            <a:ext cx="54864" cy="21945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0120" y="4773168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6B7891"/>
                </a:solidFill>
                <a:latin typeface="Microsoft YaHei"/>
              </a:rPr>
              <a:t>数据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54480" y="4773168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1B2437"/>
                </a:solidFill>
                <a:latin typeface="Microsoft YaHei"/>
              </a:rPr>
              <a:t>MySQL + MyBatis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4672" y="5230368"/>
            <a:ext cx="54864" cy="2194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0120" y="5184648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6B7891"/>
                </a:solidFill>
                <a:latin typeface="Microsoft YaHei"/>
              </a:rPr>
              <a:t>安全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54480" y="5184648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1B2437"/>
                </a:solidFill>
                <a:latin typeface="Microsoft YaHei"/>
              </a:rPr>
              <a:t>Spring Security + JWT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0" y="1627632"/>
            <a:ext cx="5212080" cy="4114800"/>
          </a:xfrm>
          <a:prstGeom prst="roundRect">
            <a:avLst/>
          </a:prstGeom>
          <a:solidFill>
            <a:srgbClr val="0B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75120" y="184708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前后端分离架构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675120" y="2240280"/>
            <a:ext cx="4617720" cy="457200"/>
          </a:xfrm>
          <a:prstGeom prst="roundRect">
            <a:avLst/>
          </a:prstGeom>
          <a:solidFill>
            <a:srgbClr val="142A55"/>
          </a:solidFill>
          <a:ln w="12700">
            <a:solidFill>
              <a:srgbClr val="2B4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39712" y="2322576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00" b="1">
                <a:solidFill>
                  <a:srgbClr val="8FB4F2"/>
                </a:solidFill>
                <a:latin typeface="Microsoft YaHei"/>
              </a:rPr>
              <a:t>表现层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2322576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FFFFFF"/>
                </a:solidFill>
                <a:latin typeface="Microsoft YaHei"/>
              </a:rPr>
              <a:t>Vue 3 SPA / Element Plus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675120" y="2880360"/>
            <a:ext cx="4617720" cy="457200"/>
          </a:xfrm>
          <a:prstGeom prst="roundRect">
            <a:avLst/>
          </a:prstGeom>
          <a:solidFill>
            <a:srgbClr val="142A55"/>
          </a:solidFill>
          <a:ln w="12700">
            <a:solidFill>
              <a:srgbClr val="2B4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39712" y="2962656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00" b="1">
                <a:solidFill>
                  <a:srgbClr val="8FB4F2"/>
                </a:solidFill>
                <a:latin typeface="Microsoft YaHei"/>
              </a:rPr>
              <a:t>接口层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2962656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FFFFFF"/>
                </a:solidFill>
                <a:latin typeface="Microsoft YaHei"/>
              </a:rPr>
              <a:t>RESTful API / JWT 鉴权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675120" y="3520440"/>
            <a:ext cx="4617720" cy="457200"/>
          </a:xfrm>
          <a:prstGeom prst="roundRect">
            <a:avLst/>
          </a:prstGeom>
          <a:solidFill>
            <a:srgbClr val="142A55"/>
          </a:solidFill>
          <a:ln w="12700">
            <a:solidFill>
              <a:srgbClr val="2B4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39712" y="3602736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00" b="1">
                <a:solidFill>
                  <a:srgbClr val="8FB4F2"/>
                </a:solidFill>
                <a:latin typeface="Microsoft YaHei"/>
              </a:rPr>
              <a:t>业务层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35240" y="3602736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FFFFFF"/>
                </a:solidFill>
                <a:latin typeface="Microsoft YaHei"/>
              </a:rPr>
              <a:t>认证、成果、评审、资源、企业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675120" y="4160520"/>
            <a:ext cx="4617720" cy="457200"/>
          </a:xfrm>
          <a:prstGeom prst="roundRect">
            <a:avLst/>
          </a:prstGeom>
          <a:solidFill>
            <a:srgbClr val="142A55"/>
          </a:solidFill>
          <a:ln w="12700">
            <a:solidFill>
              <a:srgbClr val="2B4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39712" y="4242816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00" b="1">
                <a:solidFill>
                  <a:srgbClr val="8FB4F2"/>
                </a:solidFill>
                <a:latin typeface="Microsoft YaHei"/>
              </a:rPr>
              <a:t>数据层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35240" y="4242816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FFFFFF"/>
                </a:solidFill>
                <a:latin typeface="Microsoft YaHei"/>
              </a:rPr>
              <a:t>MySQL / MyBatis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75120" y="5138928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DB8F0"/>
                </a:solidFill>
                <a:latin typeface="Microsoft YaHei"/>
              </a:rPr>
              <a:t>Nginx / Vite 代理：/api → Spring Boot，/uploads → 文件服务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6928" y="5897880"/>
            <a:ext cx="110642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6B7891"/>
                </a:solidFill>
                <a:latin typeface="Microsoft YaHei"/>
              </a:rPr>
              <a:t>说明：核心业务由 Spring Boot 提供；文件访问与少量历史兼容接口由 Node.js 辅助服务承担。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38328"/>
            <a:ext cx="56692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1">
                <a:solidFill>
                  <a:srgbClr val="1F4FD8"/>
                </a:solidFill>
                <a:latin typeface="Microsoft YaHei"/>
              </a:rPr>
              <a:t>04 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8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1B2437"/>
                </a:solidFill>
                <a:latin typeface="Microsoft YaHei"/>
              </a:rPr>
              <a:t>系统需求与总体设计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61288"/>
            <a:ext cx="566928" cy="54864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271016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6B7891"/>
                </a:solidFill>
                <a:latin typeface="Microsoft YaHei"/>
              </a:rPr>
              <a:t>五类角色协同，七个功能域支撑完整业务闭环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1323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6B7891"/>
                </a:solidFill>
                <a:latin typeface="Microsoft YaHei"/>
              </a:rPr>
              <a:t>基于 Spring Boot 的校园社团成果与孵化系统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6B7891"/>
                </a:solidFill>
                <a:latin typeface="Microsoft YaHei"/>
              </a:rPr>
              <a:t>05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27632"/>
            <a:ext cx="21031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27632"/>
            <a:ext cx="2103120" cy="54864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783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B2437"/>
                </a:solidFill>
                <a:latin typeface="Microsoft YaHei"/>
              </a:rPr>
              <a:t>学生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103120"/>
            <a:ext cx="1828800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7891"/>
                </a:solidFill>
                <a:latin typeface="Microsoft YaHei"/>
              </a:rPr>
              <a:t>上传成果、浏览互动
申请资源、查看进度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1627632"/>
            <a:ext cx="21031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34640" y="1627632"/>
            <a:ext cx="2103120" cy="54864"/>
          </a:xfrm>
          <a:prstGeom prst="rect">
            <a:avLst/>
          </a:prstGeom>
          <a:solidFill>
            <a:srgbClr val="14B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80944" y="1783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B2437"/>
                </a:solidFill>
                <a:latin typeface="Microsoft YaHei"/>
              </a:rPr>
              <a:t>教师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80944" y="2103120"/>
            <a:ext cx="1828800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7891"/>
                </a:solidFill>
                <a:latin typeface="Microsoft YaHei"/>
              </a:rPr>
              <a:t>成果评分、孵化评分
通知与获奖管理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02352" y="1627632"/>
            <a:ext cx="21031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02352" y="1627632"/>
            <a:ext cx="210312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48656" y="1783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B2437"/>
                </a:solidFill>
                <a:latin typeface="Microsoft YaHei"/>
              </a:rPr>
              <a:t>专家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48656" y="2103120"/>
            <a:ext cx="1828800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7891"/>
                </a:solidFill>
                <a:latin typeface="Microsoft YaHei"/>
              </a:rPr>
              <a:t>任务评审、多维度评分
评审历史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70063" y="1627632"/>
            <a:ext cx="21031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70063" y="1627632"/>
            <a:ext cx="210312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16367" y="1783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B2437"/>
                </a:solidFill>
                <a:latin typeface="Microsoft YaHei"/>
              </a:rPr>
              <a:t>企业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16367" y="2103120"/>
            <a:ext cx="1828800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7891"/>
                </a:solidFill>
                <a:latin typeface="Microsoft YaHei"/>
              </a:rPr>
              <a:t>资源投递、申请审批
成果浏览、合作对接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37776" y="1627632"/>
            <a:ext cx="21031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37776" y="1627632"/>
            <a:ext cx="2103120" cy="5486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0" y="1783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B2437"/>
                </a:solidFill>
                <a:latin typeface="Microsoft YaHei"/>
              </a:rPr>
              <a:t>管理员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2103120"/>
            <a:ext cx="1828800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7891"/>
                </a:solidFill>
                <a:latin typeface="Microsoft YaHei"/>
              </a:rPr>
              <a:t>用户/成果/资源管理
统计与系统设置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309067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1B2437"/>
                </a:solidFill>
                <a:latin typeface="Microsoft YaHei"/>
              </a:rPr>
              <a:t>七个功能域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3474720"/>
            <a:ext cx="26060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58444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1B2437"/>
                </a:solidFill>
                <a:latin typeface="Microsoft YaHei"/>
              </a:rPr>
              <a:t>可视化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3895344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6B7891"/>
                </a:solidFill>
                <a:latin typeface="Microsoft YaHei"/>
              </a:rPr>
              <a:t>统计与大屏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55848" y="3474720"/>
            <a:ext cx="26060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20440" y="358444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1B2437"/>
                </a:solidFill>
                <a:latin typeface="Microsoft YaHei"/>
              </a:rPr>
              <a:t>交互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0440" y="3895344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6B7891"/>
                </a:solidFill>
                <a:latin typeface="Microsoft YaHei"/>
              </a:rPr>
              <a:t>评论/点赞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44768" y="3474720"/>
            <a:ext cx="26060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59" y="358444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1B2437"/>
                </a:solidFill>
                <a:latin typeface="Microsoft YaHei"/>
              </a:rPr>
              <a:t>成果管理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59" y="3895344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6B7891"/>
                </a:solidFill>
                <a:latin typeface="Microsoft YaHei"/>
              </a:rPr>
              <a:t>上传/审核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33687" y="3474720"/>
            <a:ext cx="26060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98279" y="358444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1B2437"/>
                </a:solidFill>
                <a:latin typeface="Microsoft YaHei"/>
              </a:rPr>
              <a:t>项目孵化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98279" y="3895344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6B7891"/>
                </a:solidFill>
                <a:latin typeface="Microsoft YaHei"/>
              </a:rPr>
              <a:t>评分/跟踪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6928" y="4434840"/>
            <a:ext cx="26060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454456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1B2437"/>
                </a:solidFill>
                <a:latin typeface="Microsoft YaHei"/>
              </a:rPr>
              <a:t>用户管理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4855464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6B7891"/>
                </a:solidFill>
                <a:latin typeface="Microsoft YaHei"/>
              </a:rPr>
              <a:t>五类角色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355848" y="4434840"/>
            <a:ext cx="26060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20440" y="454456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1B2437"/>
                </a:solidFill>
                <a:latin typeface="Microsoft YaHei"/>
              </a:rPr>
              <a:t>通知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20440" y="4855464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6B7891"/>
                </a:solidFill>
                <a:latin typeface="Microsoft YaHei"/>
              </a:rPr>
              <a:t>发布/提醒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44768" y="4434840"/>
            <a:ext cx="26060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9359" y="454456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1B2437"/>
                </a:solidFill>
                <a:latin typeface="Microsoft YaHei"/>
              </a:rPr>
              <a:t>资源对接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59" y="4855464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6B7891"/>
                </a:solidFill>
                <a:latin typeface="Microsoft YaHei"/>
              </a:rPr>
              <a:t>申请/审批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006840" y="3090672"/>
            <a:ext cx="2606040" cy="2121408"/>
          </a:xfrm>
          <a:prstGeom prst="roundRect">
            <a:avLst/>
          </a:prstGeom>
          <a:solidFill>
            <a:srgbClr val="EA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89720" y="32461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1F4FD8"/>
                </a:solidFill>
                <a:latin typeface="Microsoft YaHei"/>
              </a:rPr>
              <a:t>设计原则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89720" y="3566160"/>
            <a:ext cx="2240280" cy="1417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1B2437"/>
                </a:solidFill>
                <a:latin typeface="Microsoft YaHei"/>
              </a:rPr>
              <a:t>1  角色分权
2  流程可追踪
3  数据可统计
4  接口可扩展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38328"/>
            <a:ext cx="56692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1">
                <a:solidFill>
                  <a:srgbClr val="1F4FD8"/>
                </a:solidFill>
                <a:latin typeface="Microsoft YaHei"/>
              </a:rPr>
              <a:t>05 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8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1B2437"/>
                </a:solidFill>
                <a:latin typeface="Microsoft YaHei"/>
              </a:rPr>
              <a:t>系统设计与实现（一）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61288"/>
            <a:ext cx="566928" cy="54864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271016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6B7891"/>
                </a:solidFill>
                <a:latin typeface="Microsoft YaHei"/>
              </a:rPr>
              <a:t>分层架构 + 核心数据模型，支撑多角色业务协同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1323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6B7891"/>
                </a:solidFill>
                <a:latin typeface="Microsoft YaHei"/>
              </a:rPr>
              <a:t>基于 Spring Boot 的校园社团成果与孵化系统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6B7891"/>
                </a:solidFill>
                <a:latin typeface="Microsoft YaHei"/>
              </a:rPr>
              <a:t>06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002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B2437"/>
                </a:solidFill>
                <a:latin typeface="Microsoft YaHei"/>
              </a:rPr>
              <a:t>系统架构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011680"/>
            <a:ext cx="214884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011680"/>
            <a:ext cx="2148840" cy="54864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1762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1B2437"/>
                </a:solidFill>
                <a:latin typeface="Microsoft YaHei"/>
              </a:rPr>
              <a:t>客户端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487168"/>
            <a:ext cx="1874520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7891"/>
                </a:solidFill>
                <a:latin typeface="Microsoft YaHei"/>
              </a:rPr>
              <a:t>Vue 3 + Element Plus
浏览器 / 管理端 / 企业端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71800" y="2011680"/>
            <a:ext cx="214884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71800" y="2011680"/>
            <a:ext cx="2148840" cy="54864"/>
          </a:xfrm>
          <a:prstGeom prst="rect">
            <a:avLst/>
          </a:prstGeom>
          <a:solidFill>
            <a:srgbClr val="14B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08960" y="21762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1B2437"/>
                </a:solidFill>
                <a:latin typeface="Microsoft YaHei"/>
              </a:rPr>
              <a:t>接入层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487168"/>
            <a:ext cx="1874520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7891"/>
                </a:solidFill>
                <a:latin typeface="Microsoft YaHei"/>
              </a:rPr>
              <a:t>Nginx / Vite Proxy
统一 /api 入口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76672" y="2011680"/>
            <a:ext cx="214884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76672" y="2011680"/>
            <a:ext cx="21488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13832" y="21762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1B2437"/>
                </a:solidFill>
                <a:latin typeface="Microsoft YaHei"/>
              </a:rPr>
              <a:t>应用层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13832" y="2487168"/>
            <a:ext cx="1874520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7891"/>
                </a:solidFill>
                <a:latin typeface="Microsoft YaHei"/>
              </a:rPr>
              <a:t>Spring Boot
Controller / Service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81544" y="2011680"/>
            <a:ext cx="214884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81544" y="2011680"/>
            <a:ext cx="214884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18704" y="21762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1B2437"/>
                </a:solidFill>
                <a:latin typeface="Microsoft YaHei"/>
              </a:rPr>
              <a:t>数据层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18704" y="2487168"/>
            <a:ext cx="1874520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7891"/>
                </a:solidFill>
                <a:latin typeface="Microsoft YaHei"/>
              </a:rPr>
              <a:t>MySQL
MyBatis 持久化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2395728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1800" b="1">
                <a:solidFill>
                  <a:srgbClr val="1F4FD8"/>
                </a:solidFill>
                <a:latin typeface="Microsoft YaHei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48072" y="2395728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1800" b="1">
                <a:solidFill>
                  <a:srgbClr val="1F4FD8"/>
                </a:solidFill>
                <a:latin typeface="Microsoft YaHei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52944" y="2395728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1800" b="1">
                <a:solidFill>
                  <a:srgbClr val="1F4FD8"/>
                </a:solidFill>
                <a:latin typeface="Microsoft YaHe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3401568"/>
            <a:ext cx="6903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35661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1B2437"/>
                </a:solidFill>
                <a:latin typeface="Microsoft YaHei"/>
              </a:rPr>
              <a:t>核心数据表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39319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1">
                <a:solidFill>
                  <a:srgbClr val="1F4FD8"/>
                </a:solidFill>
                <a:latin typeface="Microsoft YaHei"/>
              </a:rPr>
              <a:t>用户域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3931920"/>
            <a:ext cx="56692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6B7891"/>
                </a:solidFill>
                <a:latin typeface="Microsoft YaHei"/>
              </a:rPr>
              <a:t>student_user / teacher_user / expert_user / enterprise_user / admin_user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" y="4251959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1">
                <a:solidFill>
                  <a:srgbClr val="1F4FD8"/>
                </a:solidFill>
                <a:latin typeface="Microsoft YaHei"/>
              </a:rPr>
              <a:t>成果域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54480" y="4251959"/>
            <a:ext cx="56692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6B7891"/>
                </a:solidFill>
                <a:latin typeface="Microsoft YaHei"/>
              </a:rPr>
              <a:t>achievement / file / comment / likes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" y="457200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1">
                <a:solidFill>
                  <a:srgbClr val="1F4FD8"/>
                </a:solidFill>
                <a:latin typeface="Microsoft YaHei"/>
              </a:rPr>
              <a:t>孵化域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4572000"/>
            <a:ext cx="56692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6B7891"/>
                </a:solidFill>
                <a:latin typeface="Microsoft YaHei"/>
              </a:rPr>
              <a:t>achievement.score / incubation_status / review_status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" y="48920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1">
                <a:solidFill>
                  <a:srgbClr val="1F4FD8"/>
                </a:solidFill>
                <a:latin typeface="Microsoft YaHei"/>
              </a:rPr>
              <a:t>资源域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54480" y="4892040"/>
            <a:ext cx="56692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6B7891"/>
                </a:solidFill>
                <a:latin typeface="Microsoft YaHei"/>
              </a:rPr>
              <a:t>resource / resource_application / resource_expense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" y="5212079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1">
                <a:solidFill>
                  <a:srgbClr val="1F4FD8"/>
                </a:solidFill>
                <a:latin typeface="Microsoft YaHei"/>
              </a:rPr>
              <a:t>支撑域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54480" y="5212079"/>
            <a:ext cx="56692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6B7891"/>
                </a:solidFill>
                <a:latin typeface="Microsoft YaHei"/>
              </a:rPr>
              <a:t>notification / award / enterprise_account / recharge_record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680960" y="3401568"/>
            <a:ext cx="3931920" cy="2240280"/>
          </a:xfrm>
          <a:prstGeom prst="roundRect">
            <a:avLst/>
          </a:prstGeom>
          <a:solidFill>
            <a:srgbClr val="0B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09560" y="358444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设计要点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36992" y="3977639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1">
                <a:solidFill>
                  <a:srgbClr val="14B8C8"/>
                </a:solidFill>
                <a:latin typeface="Microsoft YaHei"/>
              </a:rPr>
              <a:t>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3977639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D5E2F8"/>
                </a:solidFill>
                <a:latin typeface="Microsoft YaHei"/>
              </a:rPr>
              <a:t>按角色划分接口权限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36992" y="4361688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1">
                <a:solidFill>
                  <a:srgbClr val="14B8C8"/>
                </a:solidFill>
                <a:latin typeface="Microsoft YaHei"/>
              </a:rPr>
              <a:t>02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4361688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D5E2F8"/>
                </a:solidFill>
                <a:latin typeface="Microsoft YaHei"/>
              </a:rPr>
              <a:t>评审状态字段驱动流程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36992" y="4745736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1">
                <a:solidFill>
                  <a:srgbClr val="14B8C8"/>
                </a:solidFill>
                <a:latin typeface="Microsoft YaHei"/>
              </a:rPr>
              <a:t>03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1040" y="4745736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D5E2F8"/>
                </a:solidFill>
                <a:latin typeface="Microsoft YaHei"/>
              </a:rPr>
              <a:t>附件独立表存储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36992" y="5129783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1">
                <a:solidFill>
                  <a:srgbClr val="14B8C8"/>
                </a:solidFill>
                <a:latin typeface="Microsoft YaHei"/>
              </a:rPr>
              <a:t>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40" y="5129783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D5E2F8"/>
                </a:solidFill>
                <a:latin typeface="Microsoft YaHei"/>
              </a:rPr>
              <a:t>统计查询与业务表分离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38328"/>
            <a:ext cx="56692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1">
                <a:solidFill>
                  <a:srgbClr val="1F4FD8"/>
                </a:solidFill>
                <a:latin typeface="Microsoft YaHei"/>
              </a:rPr>
              <a:t>05 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8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1B2437"/>
                </a:solidFill>
                <a:latin typeface="Microsoft YaHei"/>
              </a:rPr>
              <a:t>系统设计与实现（二）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61288"/>
            <a:ext cx="566928" cy="54864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271016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6B7891"/>
                </a:solidFill>
                <a:latin typeface="Microsoft YaHei"/>
              </a:rPr>
              <a:t>从成果上传到资源落地的核心业务闭环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1323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6B7891"/>
                </a:solidFill>
                <a:latin typeface="Microsoft YaHei"/>
              </a:rPr>
              <a:t>基于 Spring Boot 的校园社团成果与孵化系统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6B7891"/>
                </a:solidFill>
                <a:latin typeface="Microsoft YaHei"/>
              </a:rPr>
              <a:t>07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64208"/>
            <a:ext cx="1673352" cy="841248"/>
          </a:xfrm>
          <a:prstGeom prst="roundRect">
            <a:avLst/>
          </a:prstGeom>
          <a:solidFill>
            <a:srgbClr val="0B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1737360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00" b="1">
                <a:solidFill>
                  <a:srgbClr val="14B8C8"/>
                </a:solidFill>
                <a:latin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1938528"/>
            <a:ext cx="14173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成果上传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2221992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C9D8F5"/>
                </a:solidFill>
                <a:latin typeface="Microsoft YaHei"/>
              </a:rPr>
              <a:t>学生提交
附件与封面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8568" y="192024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1F4FD8"/>
                </a:solidFill>
                <a:latin typeface="Microsoft YaHei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23160" y="1664208"/>
            <a:ext cx="1673352" cy="841248"/>
          </a:xfrm>
          <a:prstGeom prst="roundRect">
            <a:avLst/>
          </a:prstGeom>
          <a:solidFill>
            <a:srgbClr val="14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32888" y="1737360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00" b="1">
                <a:solidFill>
                  <a:srgbClr val="14B8C8"/>
                </a:solidFill>
                <a:latin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32888" y="1938528"/>
            <a:ext cx="14173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教师评分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32888" y="2221992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C9D8F5"/>
                </a:solidFill>
                <a:latin typeface="Microsoft YaHei"/>
              </a:rPr>
              <a:t>阶段评分
孵化评分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192024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1F4FD8"/>
                </a:solidFill>
                <a:latin typeface="Microsoft YaHei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79392" y="1664208"/>
            <a:ext cx="1673352" cy="841248"/>
          </a:xfrm>
          <a:prstGeom prst="roundRect">
            <a:avLst/>
          </a:prstGeom>
          <a:solidFill>
            <a:srgbClr val="0B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1737360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00" b="1">
                <a:solidFill>
                  <a:srgbClr val="14B8C8"/>
                </a:solidFill>
                <a:latin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1938528"/>
            <a:ext cx="14173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专家评审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2221992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C9D8F5"/>
                </a:solidFill>
                <a:latin typeface="Microsoft YaHei"/>
              </a:rPr>
              <a:t>多维度评分
结论与意见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71031" y="192024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1F4FD8"/>
                </a:solidFill>
                <a:latin typeface="Microsoft YaHei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35624" y="1664208"/>
            <a:ext cx="1673352" cy="841248"/>
          </a:xfrm>
          <a:prstGeom prst="roundRect">
            <a:avLst/>
          </a:prstGeom>
          <a:solidFill>
            <a:srgbClr val="14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2" y="1737360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00" b="1">
                <a:solidFill>
                  <a:srgbClr val="14B8C8"/>
                </a:solidFill>
                <a:latin typeface="Microsoft Ya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45352" y="1938528"/>
            <a:ext cx="14173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资源申请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45352" y="2221992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C9D8F5"/>
                </a:solidFill>
                <a:latin typeface="Microsoft YaHei"/>
              </a:rPr>
              <a:t>双审资格
校验后申请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27264" y="192024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1F4FD8"/>
                </a:solidFill>
                <a:latin typeface="Microsoft YaHei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91855" y="1664208"/>
            <a:ext cx="1673352" cy="841248"/>
          </a:xfrm>
          <a:prstGeom prst="roundRect">
            <a:avLst/>
          </a:prstGeom>
          <a:solidFill>
            <a:srgbClr val="0B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01583" y="1737360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00" b="1">
                <a:solidFill>
                  <a:srgbClr val="14B8C8"/>
                </a:solidFill>
                <a:latin typeface="Microsoft YaHe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01583" y="1938528"/>
            <a:ext cx="14173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企业审批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01583" y="2221992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C9D8F5"/>
                </a:solidFill>
                <a:latin typeface="Microsoft YaHei"/>
              </a:rPr>
              <a:t>查看申请
通过/拒绝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83495" y="192024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1F4FD8"/>
                </a:solidFill>
                <a:latin typeface="Microsoft YaHei"/>
              </a:rPr>
              <a:t>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848087" y="1664208"/>
            <a:ext cx="1673352" cy="841248"/>
          </a:xfrm>
          <a:prstGeom prst="roundRect">
            <a:avLst/>
          </a:prstGeom>
          <a:solidFill>
            <a:srgbClr val="14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57815" y="1737360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00" b="1">
                <a:solidFill>
                  <a:srgbClr val="14B8C8"/>
                </a:solidFill>
                <a:latin typeface="Microsoft YaHei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57815" y="1938528"/>
            <a:ext cx="14173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孵化跟踪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57815" y="2221992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C9D8F5"/>
                </a:solidFill>
                <a:latin typeface="Microsoft YaHei"/>
              </a:rPr>
              <a:t>状态与
数据统计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2999232"/>
            <a:ext cx="544068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6928" y="2999232"/>
            <a:ext cx="73152" cy="1024128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3145536"/>
            <a:ext cx="498348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1B2437"/>
                </a:solidFill>
                <a:latin typeface="Microsoft YaHei"/>
              </a:rPr>
              <a:t>成果上传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3566160"/>
            <a:ext cx="496519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B7891"/>
                </a:solidFill>
                <a:latin typeface="Microsoft YaHei"/>
              </a:rPr>
              <a:t>多文件上传、封面校验、附件分类存储；成果状态进入待审核。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36208" y="2999232"/>
            <a:ext cx="544068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36208" y="2999232"/>
            <a:ext cx="73152" cy="1024128"/>
          </a:xfrm>
          <a:prstGeom prst="rect">
            <a:avLst/>
          </a:prstGeom>
          <a:solidFill>
            <a:srgbClr val="14B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92240" y="3145536"/>
            <a:ext cx="498348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1B2437"/>
                </a:solidFill>
                <a:latin typeface="Microsoft YaHei"/>
              </a:rPr>
              <a:t>两阶段评分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3566160"/>
            <a:ext cx="496519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B7891"/>
                </a:solidFill>
                <a:latin typeface="Microsoft YaHei"/>
              </a:rPr>
              <a:t>教师先评分，再孵化评分；双项达标后自动进入专家评审。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6928" y="4233672"/>
            <a:ext cx="544068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66928" y="4233672"/>
            <a:ext cx="73152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4379976"/>
            <a:ext cx="498348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1B2437"/>
                </a:solidFill>
                <a:latin typeface="Microsoft YaHei"/>
              </a:rPr>
              <a:t>专家评审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4800600"/>
            <a:ext cx="496519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B7891"/>
                </a:solidFill>
                <a:latin typeface="Microsoft YaHei"/>
              </a:rPr>
              <a:t>按创新性、完成度、实用性等维度打分，形成评审结论。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36208" y="4233672"/>
            <a:ext cx="544068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36208" y="4233672"/>
            <a:ext cx="73152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92240" y="4379976"/>
            <a:ext cx="498348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1B2437"/>
                </a:solidFill>
                <a:latin typeface="Microsoft YaHei"/>
              </a:rPr>
              <a:t>资源对接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92240" y="4800600"/>
            <a:ext cx="496519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B7891"/>
                </a:solidFill>
                <a:latin typeface="Microsoft YaHei"/>
              </a:rPr>
              <a:t>学生满足双审资格后可申请；企业审批并记录资助明细。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66928" y="5596128"/>
            <a:ext cx="11064240" cy="475488"/>
          </a:xfrm>
          <a:prstGeom prst="roundRect">
            <a:avLst/>
          </a:prstGeom>
          <a:solidFill>
            <a:srgbClr val="EA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9808" y="5705856"/>
            <a:ext cx="106984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00" b="1">
                <a:solidFill>
                  <a:srgbClr val="1F4FD8"/>
                </a:solidFill>
                <a:latin typeface="Microsoft YaHei"/>
              </a:rPr>
              <a:t>关键控制：身份从 JWT 获取，评审状态驱动流程，资源申请前校验“教师评分 + 专家评审”，资金支出与流水同事务。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38328"/>
            <a:ext cx="56692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1">
                <a:solidFill>
                  <a:srgbClr val="1F4FD8"/>
                </a:solidFill>
                <a:latin typeface="Microsoft YaHei"/>
              </a:rPr>
              <a:t>06 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8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1B2437"/>
                </a:solidFill>
                <a:latin typeface="Microsoft YaHei"/>
              </a:rPr>
              <a:t>创新点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61288"/>
            <a:ext cx="566928" cy="54864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271016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6B7891"/>
                </a:solidFill>
                <a:latin typeface="Microsoft YaHei"/>
              </a:rPr>
              <a:t>从“功能堆叠”走向“业务闭环 + 多角色协同”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1323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6B7891"/>
                </a:solidFill>
                <a:latin typeface="Microsoft YaHei"/>
              </a:rPr>
              <a:t>基于 Spring Boot 的校园社团成果与孵化系统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6B7891"/>
                </a:solidFill>
                <a:latin typeface="Microsoft YaHei"/>
              </a:rPr>
              <a:t>08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27632"/>
            <a:ext cx="5394960" cy="1755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792224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1F4FD8"/>
                </a:solidFill>
                <a:latin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1810512"/>
            <a:ext cx="425196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1B2437"/>
                </a:solidFill>
                <a:latin typeface="Microsoft YaHei"/>
              </a:rPr>
              <a:t>一体化业务闭环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21992"/>
            <a:ext cx="429768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6B7891"/>
                </a:solidFill>
                <a:latin typeface="Microsoft YaHei"/>
              </a:rPr>
              <a:t>把成果展示、评审、孵化、资源对接放在同一条链路中，避免系统之间割裂。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627632"/>
            <a:ext cx="64008" cy="1755648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90488" y="1627632"/>
            <a:ext cx="5394960" cy="1755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1656" y="1792224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14B8C8"/>
                </a:solidFill>
                <a:latin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810512"/>
            <a:ext cx="425196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1B2437"/>
                </a:solidFill>
                <a:latin typeface="Microsoft YaHei"/>
              </a:rPr>
              <a:t>两阶段评分 + 多维评审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7728" y="2221992"/>
            <a:ext cx="429768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6B7891"/>
                </a:solidFill>
                <a:latin typeface="Microsoft YaHei"/>
              </a:rPr>
              <a:t>教师阶段评分与孵化评分联动，专家按多维度打分，形成可追溯的评审依据。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1627632"/>
            <a:ext cx="64008" cy="1755648"/>
          </a:xfrm>
          <a:prstGeom prst="rect">
            <a:avLst/>
          </a:prstGeom>
          <a:solidFill>
            <a:srgbClr val="14B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66928" y="3621024"/>
            <a:ext cx="5394960" cy="1755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785615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F59E0B"/>
                </a:solidFill>
                <a:latin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4168" y="3803904"/>
            <a:ext cx="425196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1B2437"/>
                </a:solidFill>
                <a:latin typeface="Microsoft YaHei"/>
              </a:rPr>
              <a:t>双审资格的资源对接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4168" y="4215384"/>
            <a:ext cx="429768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6B7891"/>
                </a:solidFill>
                <a:latin typeface="Microsoft YaHei"/>
              </a:rPr>
              <a:t>资源申请前校验教师评分与专家评审结果，减少无效申请，提高对接质量。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621024"/>
            <a:ext cx="64008" cy="17556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90488" y="3621024"/>
            <a:ext cx="5394960" cy="1755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91656" y="3785615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10B981"/>
                </a:solidFill>
                <a:latin typeface="Microsoft Ya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3803904"/>
            <a:ext cx="425196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1B2437"/>
                </a:solidFill>
                <a:latin typeface="Microsoft YaHei"/>
              </a:rPr>
              <a:t>多角色数据可视化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67728" y="4215384"/>
            <a:ext cx="429768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6B7891"/>
                </a:solidFill>
                <a:latin typeface="Microsoft YaHei"/>
              </a:rPr>
              <a:t>面向学生、教师、管理员提供 KPI、分布、趋势和大屏展示，支撑管理决策。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90488" y="3621024"/>
            <a:ext cx="64008" cy="17556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58978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6B7891"/>
                </a:solidFill>
                <a:latin typeface="Microsoft YaHei"/>
              </a:rPr>
              <a:t>创新定位：不是算法创新，而是业务整合与工程实现创新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38328"/>
            <a:ext cx="56692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1">
                <a:solidFill>
                  <a:srgbClr val="1F4FD8"/>
                </a:solidFill>
                <a:latin typeface="Microsoft YaHei"/>
              </a:rPr>
              <a:t>07 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8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1B2437"/>
                </a:solidFill>
                <a:latin typeface="Microsoft YaHei"/>
              </a:rPr>
              <a:t>系统测试与运行效果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61288"/>
            <a:ext cx="566928" cy="54864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271016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6B7891"/>
                </a:solidFill>
                <a:latin typeface="Microsoft YaHei"/>
              </a:rPr>
              <a:t>围绕五个核心模块开展功能测试与非功能测试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1323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6B7891"/>
                </a:solidFill>
                <a:latin typeface="Microsoft YaHei"/>
              </a:rPr>
              <a:t>基于 Spring Boot 的校园社团成果与孵化系统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6B7891"/>
                </a:solidFill>
                <a:latin typeface="Microsoft YaHei"/>
              </a:rPr>
              <a:t>09 / 10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645920"/>
          <a:ext cx="6903720" cy="2542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4434840"/>
                <a:gridCol w="114300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测试模块</a:t>
                      </a:r>
                    </a:p>
                  </a:txBody>
                  <a:tcPr>
                    <a:solidFill>
                      <a:srgbClr val="0B1B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测试重点</a:t>
                      </a:r>
                    </a:p>
                  </a:txBody>
                  <a:tcPr>
                    <a:solidFill>
                      <a:srgbClr val="0B1B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结果</a:t>
                      </a:r>
                    </a:p>
                  </a:txBody>
                  <a:tcPr>
                    <a:solidFill>
                      <a:srgbClr val="0B1B3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B2437"/>
                          </a:solidFill>
                          <a:latin typeface="Microsoft YaHei"/>
                        </a:rPr>
                        <a:t>成果上传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B2437"/>
                          </a:solidFill>
                          <a:latin typeface="Microsoft YaHei"/>
                        </a:rPr>
                        <a:t>正常上传、文件类型/大小、缺少参数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0B981"/>
                          </a:solidFill>
                          <a:latin typeface="Microsoft YaHei"/>
                        </a:rPr>
                        <a:t>通过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B2437"/>
                          </a:solidFill>
                          <a:latin typeface="Microsoft YaHei"/>
                        </a:rPr>
                        <a:t>资源申请</a:t>
                      </a:r>
                    </a:p>
                  </a:txBody>
                  <a:tcPr>
                    <a:solidFill>
                      <a:srgbClr val="EAF0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B2437"/>
                          </a:solidFill>
                          <a:latin typeface="Microsoft YaHei"/>
                        </a:rPr>
                        <a:t>资格校验、重复申请、审批流转</a:t>
                      </a:r>
                    </a:p>
                  </a:txBody>
                  <a:tcPr>
                    <a:solidFill>
                      <a:srgbClr val="EA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0B981"/>
                          </a:solidFill>
                          <a:latin typeface="Microsoft YaHei"/>
                        </a:rPr>
                        <a:t>通过</a:t>
                      </a:r>
                    </a:p>
                  </a:txBody>
                  <a:tcPr>
                    <a:solidFill>
                      <a:srgbClr val="EAF0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B2437"/>
                          </a:solidFill>
                          <a:latin typeface="Microsoft YaHei"/>
                        </a:rPr>
                        <a:t>用户管理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B2437"/>
                          </a:solidFill>
                          <a:latin typeface="Microsoft YaHei"/>
                        </a:rPr>
                        <a:t>五类角色增删改查、权限隔离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0B981"/>
                          </a:solidFill>
                          <a:latin typeface="Microsoft YaHei"/>
                        </a:rPr>
                        <a:t>通过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B2437"/>
                          </a:solidFill>
                          <a:latin typeface="Microsoft YaHei"/>
                        </a:rPr>
                        <a:t>成果评价</a:t>
                      </a:r>
                    </a:p>
                  </a:txBody>
                  <a:tcPr>
                    <a:solidFill>
                      <a:srgbClr val="EAF0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B2437"/>
                          </a:solidFill>
                          <a:latin typeface="Microsoft YaHei"/>
                        </a:rPr>
                        <a:t>教师评分、专家评审、状态流转</a:t>
                      </a:r>
                    </a:p>
                  </a:txBody>
                  <a:tcPr>
                    <a:solidFill>
                      <a:srgbClr val="EA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0B981"/>
                          </a:solidFill>
                          <a:latin typeface="Microsoft YaHei"/>
                        </a:rPr>
                        <a:t>通过</a:t>
                      </a:r>
                    </a:p>
                  </a:txBody>
                  <a:tcPr>
                    <a:solidFill>
                      <a:srgbClr val="EAF0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B2437"/>
                          </a:solidFill>
                          <a:latin typeface="Microsoft YaHei"/>
                        </a:rPr>
                        <a:t>成果管理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B2437"/>
                          </a:solidFill>
                          <a:latin typeface="Microsoft YaHei"/>
                        </a:rPr>
                        <a:t>列表、详情、删除、数据一致性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0B981"/>
                          </a:solidFill>
                          <a:latin typeface="Microsoft YaHei"/>
                        </a:rPr>
                        <a:t>通过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818120" y="1645920"/>
            <a:ext cx="37947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28431" y="1783080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1F4FD8"/>
                </a:solidFill>
                <a:latin typeface="Microsoft YaHei"/>
              </a:rPr>
              <a:t>测试结论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28431" y="2084831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891"/>
                </a:solidFill>
                <a:latin typeface="Microsoft YaHei"/>
              </a:rPr>
              <a:t>五个核心模块主流程全部通过；权限、重复提交、越权访问等异常场景可控。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3108960"/>
            <a:ext cx="502920" cy="384048"/>
          </a:xfrm>
          <a:prstGeom prst="roundRect">
            <a:avLst/>
          </a:prstGeom>
          <a:solidFill>
            <a:srgbClr val="E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45552" y="318211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900" b="1">
                <a:solidFill>
                  <a:srgbClr val="14B8C8"/>
                </a:solidFill>
                <a:latin typeface="Microsoft YaHei"/>
              </a:rPr>
              <a:t>性能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182112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1B2437"/>
                </a:solidFill>
                <a:latin typeface="Microsoft YaHei"/>
              </a:rPr>
              <a:t>主要接口响应满足校园使用规模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3675887"/>
            <a:ext cx="502920" cy="384048"/>
          </a:xfrm>
          <a:prstGeom prst="roundRect">
            <a:avLst/>
          </a:prstGeom>
          <a:solidFill>
            <a:srgbClr val="E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3749039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900" b="1">
                <a:solidFill>
                  <a:srgbClr val="14B8C8"/>
                </a:solidFill>
                <a:latin typeface="Microsoft YaHei"/>
              </a:rPr>
              <a:t>安全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749039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1B2437"/>
                </a:solidFill>
                <a:latin typeface="Microsoft YaHei"/>
              </a:rPr>
              <a:t>JWT 鉴权、角色隔离、越权拦截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4242816"/>
            <a:ext cx="502920" cy="384048"/>
          </a:xfrm>
          <a:prstGeom prst="roundRect">
            <a:avLst/>
          </a:prstGeom>
          <a:solidFill>
            <a:srgbClr val="E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45552" y="431596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900" b="1">
                <a:solidFill>
                  <a:srgbClr val="14B8C8"/>
                </a:solidFill>
                <a:latin typeface="Microsoft YaHei"/>
              </a:rPr>
              <a:t>兼容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315968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1B2437"/>
                </a:solidFill>
                <a:latin typeface="Microsoft YaHei"/>
              </a:rPr>
              <a:t>主流浏览器与常见分辨率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20" y="4809744"/>
            <a:ext cx="502920" cy="384048"/>
          </a:xfrm>
          <a:prstGeom prst="roundRect">
            <a:avLst/>
          </a:prstGeom>
          <a:solidFill>
            <a:srgbClr val="E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45552" y="488289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900" b="1">
                <a:solidFill>
                  <a:srgbClr val="14B8C8"/>
                </a:solidFill>
                <a:latin typeface="Microsoft YaHei"/>
              </a:rPr>
              <a:t>可靠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882896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1B2437"/>
                </a:solidFill>
                <a:latin typeface="Microsoft YaHei"/>
              </a:rPr>
              <a:t>持续运行稳定，异常可恢复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30368"/>
            <a:ext cx="11064240" cy="457200"/>
          </a:xfrm>
          <a:prstGeom prst="roundRect">
            <a:avLst/>
          </a:prstGeom>
          <a:solidFill>
            <a:srgbClr val="EA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5340096"/>
            <a:ext cx="106984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50" b="1">
                <a:solidFill>
                  <a:srgbClr val="1F4FD8"/>
                </a:solidFill>
                <a:latin typeface="Microsoft YaHei"/>
              </a:rPr>
              <a:t>测试方式：黑盒用例 + 接口测试 + 数据库核对 + 异常/权限测试；结论：达到需求规格与设计目标。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38328"/>
            <a:ext cx="56692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1">
                <a:solidFill>
                  <a:srgbClr val="1F4FD8"/>
                </a:solidFill>
                <a:latin typeface="Microsoft YaHei"/>
              </a:rPr>
              <a:t>08 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8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1B2437"/>
                </a:solidFill>
                <a:latin typeface="Microsoft YaHei"/>
              </a:rPr>
              <a:t>总结与致谢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61288"/>
            <a:ext cx="566928" cy="54864"/>
          </a:xfrm>
          <a:prstGeom prst="rect">
            <a:avLst/>
          </a:prstGeom>
          <a:solidFill>
            <a:srgbClr val="1F4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271016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6B7891"/>
                </a:solidFill>
                <a:latin typeface="Microsoft YaHei"/>
              </a:rPr>
              <a:t>从“成果沉淀”到“成果转化”的一次完整工程实践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1323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6B7891"/>
                </a:solidFill>
                <a:latin typeface="Microsoft YaHei"/>
              </a:rPr>
              <a:t>基于 Spring Boot 的校园社团成果与孵化系统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55664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6B7891"/>
                </a:solidFill>
                <a:latin typeface="Microsoft YaHei"/>
              </a:rPr>
              <a:t>10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276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B2437"/>
                </a:solidFill>
                <a:latin typeface="Microsoft YaHei"/>
              </a:rPr>
              <a:t>完成的工作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993392"/>
            <a:ext cx="5394960" cy="1645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100" b="1">
                <a:solidFill>
                  <a:srgbClr val="1F4FD8"/>
                </a:solidFill>
                <a:latin typeface="Microsoft YaHei"/>
              </a:rPr>
              <a:t>• </a:t>
            </a:r>
            <a:r>
              <a:rPr sz="1100">
                <a:solidFill>
                  <a:srgbClr val="1B2437"/>
                </a:solidFill>
                <a:latin typeface="Microsoft YaHei"/>
              </a:rPr>
              <a:t>构建五类角色、八个模块的前后端分离平台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100" b="1">
                <a:solidFill>
                  <a:srgbClr val="1F4FD8"/>
                </a:solidFill>
                <a:latin typeface="Microsoft YaHei"/>
              </a:rPr>
              <a:t>• </a:t>
            </a:r>
            <a:r>
              <a:rPr sz="1100">
                <a:solidFill>
                  <a:srgbClr val="1B2437"/>
                </a:solidFill>
                <a:latin typeface="Microsoft YaHei"/>
              </a:rPr>
              <a:t>打通“上传—评审—孵化—资源对接”业务闭环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100" b="1">
                <a:solidFill>
                  <a:srgbClr val="1F4FD8"/>
                </a:solidFill>
                <a:latin typeface="Microsoft YaHei"/>
              </a:rPr>
              <a:t>• </a:t>
            </a:r>
            <a:r>
              <a:rPr sz="1100">
                <a:solidFill>
                  <a:srgbClr val="1B2437"/>
                </a:solidFill>
                <a:latin typeface="Microsoft YaHei"/>
              </a:rPr>
              <a:t>实现教师两阶段评分、专家多维度评审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100" b="1">
                <a:solidFill>
                  <a:srgbClr val="1F4FD8"/>
                </a:solidFill>
                <a:latin typeface="Microsoft YaHei"/>
              </a:rPr>
              <a:t>• </a:t>
            </a:r>
            <a:r>
              <a:rPr sz="1100">
                <a:solidFill>
                  <a:srgbClr val="1B2437"/>
                </a:solidFill>
                <a:latin typeface="Microsoft YaHei"/>
              </a:rPr>
              <a:t>完成资源申请审批、企业合作与数据可视化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276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1B2437"/>
                </a:solidFill>
                <a:latin typeface="Microsoft YaHei"/>
              </a:rPr>
              <a:t>不足与展望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993392"/>
            <a:ext cx="53035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21408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00" b="1">
                <a:solidFill>
                  <a:srgbClr val="1F4FD8"/>
                </a:solidFill>
                <a:latin typeface="Microsoft YaHei"/>
              </a:rPr>
              <a:t>不足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2121408"/>
            <a:ext cx="43434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7891"/>
                </a:solidFill>
                <a:latin typeface="Microsoft YaHei"/>
              </a:rPr>
              <a:t>高并发与缓存能力有限；智能推荐、对象存储仍可完善。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017520"/>
            <a:ext cx="53035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145536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00" b="1">
                <a:solidFill>
                  <a:srgbClr val="1F4FD8"/>
                </a:solidFill>
                <a:latin typeface="Microsoft YaHei"/>
              </a:rPr>
              <a:t>展望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3145536"/>
            <a:ext cx="43434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B7891"/>
                </a:solidFill>
                <a:latin typeface="Microsoft YaHei"/>
              </a:rPr>
              <a:t>引入 Redis 缓存、对象存储与推荐算法，提升性能与匹配精度。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977639"/>
            <a:ext cx="11064240" cy="713232"/>
          </a:xfrm>
          <a:prstGeom prst="roundRect">
            <a:avLst/>
          </a:prstGeom>
          <a:solidFill>
            <a:srgbClr val="EA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160520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1300" b="1">
                <a:solidFill>
                  <a:srgbClr val="1F4FD8"/>
                </a:solidFill>
                <a:latin typeface="Microsoft YaHei"/>
              </a:rPr>
              <a:t>核心价值：让每一份社团成果，都有被看见、被评审、被托举的机会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983480"/>
            <a:ext cx="11064240" cy="822960"/>
          </a:xfrm>
          <a:prstGeom prst="roundRect">
            <a:avLst/>
          </a:prstGeom>
          <a:solidFill>
            <a:srgbClr val="0B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16636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感谢张娟老师的悉心指导，感谢学院和各位老师的帮助！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504688"/>
            <a:ext cx="105156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1100" b="0">
                <a:solidFill>
                  <a:srgbClr val="C9D8F5"/>
                </a:solidFill>
                <a:latin typeface="Microsoft YaHei"/>
              </a:rPr>
              <a:t>恳请各位老师批评指正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05332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6B7891"/>
                </a:solidFill>
                <a:latin typeface="Microsoft YaHei"/>
              </a:rPr>
              <a:t>答辩人：王宏民     2027 年 5 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